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charts/chart3.xml" ContentType="application/vnd.openxmlformats-officedocument.drawingml.chart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Accuracy over Epochs (%)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 Accuracy</c:v>
                </c:pt>
              </c:strCache>
            </c:strRef>
          </c:tx>
          <c:spPr>
            <a:solidFill>
              <a:srgbClr val="0D9488"/>
            </a:solidFill>
            <a:ln w="31750" cap="flat">
              <a:solidFill>
                <a:srgbClr val="0D9488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E1</c:v>
                  </c:pt>
                  <c:pt idx="1">
                    <c:v>E2</c:v>
                  </c:pt>
                  <c:pt idx="2">
                    <c:v>E3</c:v>
                  </c:pt>
                  <c:pt idx="3">
                    <c:v>E4</c:v>
                  </c:pt>
                  <c:pt idx="4">
                    <c:v>E5</c:v>
                  </c:pt>
                  <c:pt idx="5">
                    <c:v>E6</c:v>
                  </c:pt>
                  <c:pt idx="6">
                    <c:v>E7</c:v>
                  </c:pt>
                  <c:pt idx="7">
                    <c:v>E8</c:v>
                  </c:pt>
                  <c:pt idx="8">
                    <c:v>E9</c:v>
                  </c:pt>
                  <c:pt idx="9">
                    <c:v>E10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72</c:v>
                </c:pt>
                <c:pt idx="1">
                  <c:v>85</c:v>
                </c:pt>
                <c:pt idx="2">
                  <c:v>91</c:v>
                </c:pt>
                <c:pt idx="3">
                  <c:v>94</c:v>
                </c:pt>
                <c:pt idx="4">
                  <c:v>96</c:v>
                </c:pt>
                <c:pt idx="5">
                  <c:v>97</c:v>
                </c:pt>
                <c:pt idx="6">
                  <c:v>98</c:v>
                </c:pt>
                <c:pt idx="7">
                  <c:v>98.5</c:v>
                </c:pt>
                <c:pt idx="8">
                  <c:v>98.9</c:v>
                </c:pt>
                <c:pt idx="9">
                  <c:v>99.3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 Accuracy</c:v>
                </c:pt>
              </c:strCache>
            </c:strRef>
          </c:tx>
          <c:spPr>
            <a:solidFill>
              <a:srgbClr val="1E3A5F"/>
            </a:solidFill>
            <a:ln w="31750" cap="flat">
              <a:solidFill>
                <a:srgbClr val="1E3A5F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E3A5F"/>
              </a:solidFill>
              <a:ln w="9525" cap="flat">
                <a:solidFill>
                  <a:srgbClr val="1E3A5F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E1</c:v>
                  </c:pt>
                  <c:pt idx="1">
                    <c:v>E2</c:v>
                  </c:pt>
                  <c:pt idx="2">
                    <c:v>E3</c:v>
                  </c:pt>
                  <c:pt idx="3">
                    <c:v>E4</c:v>
                  </c:pt>
                  <c:pt idx="4">
                    <c:v>E5</c:v>
                  </c:pt>
                  <c:pt idx="5">
                    <c:v>E6</c:v>
                  </c:pt>
                  <c:pt idx="6">
                    <c:v>E7</c:v>
                  </c:pt>
                  <c:pt idx="7">
                    <c:v>E8</c:v>
                  </c:pt>
                  <c:pt idx="8">
                    <c:v>E9</c:v>
                  </c:pt>
                  <c:pt idx="9">
                    <c:v>E10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70</c:v>
                </c:pt>
                <c:pt idx="1">
                  <c:v>83</c:v>
                </c:pt>
                <c:pt idx="2">
                  <c:v>90</c:v>
                </c:pt>
                <c:pt idx="3">
                  <c:v>93.5</c:v>
                </c:pt>
                <c:pt idx="4">
                  <c:v>95.5</c:v>
                </c:pt>
                <c:pt idx="5">
                  <c:v>96.5</c:v>
                </c:pt>
                <c:pt idx="6">
                  <c:v>97.5</c:v>
                </c:pt>
                <c:pt idx="7">
                  <c:v>98</c:v>
                </c:pt>
                <c:pt idx="8">
                  <c:v>98.7</c:v>
                </c:pt>
                <c:pt idx="9">
                  <c:v>99.15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6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Loss over Epochs</a:t>
            </a:r>
          </a:p>
        </c:rich>
      </c:tx>
      <c:layout/>
      <c:overlay val="0"/>
    </c:title>
    <c:autoTitleDeleted val="0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Train Loss</c:v>
                </c:pt>
              </c:strCache>
            </c:strRef>
          </c:tx>
          <c:spPr>
            <a:solidFill>
              <a:srgbClr val="F97316"/>
            </a:solidFill>
            <a:ln w="25400" cap="flat">
              <a:solidFill>
                <a:srgbClr val="F97316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F97316"/>
              </a:solidFill>
              <a:ln w="9525" cap="flat">
                <a:solidFill>
                  <a:srgbClr val="F97316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E1</c:v>
                  </c:pt>
                  <c:pt idx="1">
                    <c:v>E2</c:v>
                  </c:pt>
                  <c:pt idx="2">
                    <c:v>E3</c:v>
                  </c:pt>
                  <c:pt idx="3">
                    <c:v>E4</c:v>
                  </c:pt>
                  <c:pt idx="4">
                    <c:v>E5</c:v>
                  </c:pt>
                  <c:pt idx="5">
                    <c:v>E6</c:v>
                  </c:pt>
                  <c:pt idx="6">
                    <c:v>E7</c:v>
                  </c:pt>
                  <c:pt idx="7">
                    <c:v>E8</c:v>
                  </c:pt>
                  <c:pt idx="8">
                    <c:v>E9</c:v>
                  </c:pt>
                  <c:pt idx="9">
                    <c:v>E10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1.1</c:v>
                </c:pt>
                <c:pt idx="1">
                  <c:v>0.55</c:v>
                </c:pt>
                <c:pt idx="2">
                  <c:v>0.3</c:v>
                </c:pt>
                <c:pt idx="3">
                  <c:v>0.18</c:v>
                </c:pt>
                <c:pt idx="4">
                  <c:v>0.12</c:v>
                </c:pt>
                <c:pt idx="5">
                  <c:v>0.09</c:v>
                </c:pt>
                <c:pt idx="6">
                  <c:v>0.07</c:v>
                </c:pt>
                <c:pt idx="7">
                  <c:v>0.06</c:v>
                </c:pt>
                <c:pt idx="8">
                  <c:v>0.05</c:v>
                </c:pt>
                <c:pt idx="9">
                  <c:v>0.04</c:v>
                </c:pt>
              </c:numCache>
            </c:numRef>
          </c:val>
          <c:smooth val="1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 Loss</c:v>
                </c:pt>
              </c:strCache>
            </c:strRef>
          </c:tx>
          <c:spPr>
            <a:solidFill>
              <a:srgbClr val="7C3AED"/>
            </a:solidFill>
            <a:ln w="25400" cap="flat">
              <a:solidFill>
                <a:srgbClr val="7C3AED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7C3AED"/>
              </a:solidFill>
              <a:ln w="9525" cap="flat">
                <a:solidFill>
                  <a:srgbClr val="7C3AED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Sheet1!$A$2:$A$11</c:f>
              <c:multiLvlStrCache>
                <c:ptCount val="10"/>
                <c:lvl>
                  <c:pt idx="0">
                    <c:v>E1</c:v>
                  </c:pt>
                  <c:pt idx="1">
                    <c:v>E2</c:v>
                  </c:pt>
                  <c:pt idx="2">
                    <c:v>E3</c:v>
                  </c:pt>
                  <c:pt idx="3">
                    <c:v>E4</c:v>
                  </c:pt>
                  <c:pt idx="4">
                    <c:v>E5</c:v>
                  </c:pt>
                  <c:pt idx="5">
                    <c:v>E6</c:v>
                  </c:pt>
                  <c:pt idx="6">
                    <c:v>E7</c:v>
                  </c:pt>
                  <c:pt idx="7">
                    <c:v>E8</c:v>
                  </c:pt>
                  <c:pt idx="8">
                    <c:v>E9</c:v>
                  </c:pt>
                  <c:pt idx="9">
                    <c:v>E10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1.2</c:v>
                </c:pt>
                <c:pt idx="1">
                  <c:v>0.6</c:v>
                </c:pt>
                <c:pt idx="2">
                  <c:v>0.32</c:v>
                </c:pt>
                <c:pt idx="3">
                  <c:v>0.2</c:v>
                </c:pt>
                <c:pt idx="4">
                  <c:v>0.14</c:v>
                </c:pt>
                <c:pt idx="5">
                  <c:v>0.1</c:v>
                </c:pt>
                <c:pt idx="6">
                  <c:v>0.08</c:v>
                </c:pt>
                <c:pt idx="7">
                  <c:v>0.065</c:v>
                </c:pt>
                <c:pt idx="8">
                  <c:v>0.055</c:v>
                </c:pt>
                <c:pt idx="9">
                  <c:v>0.045</c:v>
                </c:pt>
              </c:numCache>
            </c:numRef>
          </c:val>
          <c:smooth val="1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00000"/>
                </a:solidFill>
                <a:latin typeface="Arial"/>
              </a:defRPr>
            </a:pPr>
            <a:r>
              <a:rPr sz="1800" b="0" i="0" u="none" strike="noStrike">
                <a:solidFill>
                  <a:srgbClr val="000000"/>
                </a:solidFill>
                <a:latin typeface="Arial"/>
              </a:rPr>
              <a:t>Accuracy Comparison (%)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Validation Accuracy (%)</c:v>
                </c:pt>
              </c:strCache>
            </c:strRef>
          </c:tx>
          <c:spPr>
            <a:solidFill>
              <a:srgbClr val="64748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64748B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D9488"/>
              </a:solidFill>
              <a:effectLst/>
            </c:spPr>
          </c:dPt>
          <c:cat>
            <c:multiLvlStrRef>
              <c:f>Sheet1!$A$2:$A$5</c:f>
              <c:multiLvlStrCache>
                <c:ptCount val="4"/>
                <c:lvl>
                  <c:pt idx="0">
                    <c:v>Oyedotun et al.
(CNN)</c:v>
                  </c:pt>
                  <c:pt idx="1">
                    <c:v>Molchanov et al.
(3D-CNN)</c:v>
                  </c:pt>
                  <c:pt idx="2">
                    <c:v>Kopuklu et al.
(CNN-LSTM)</c:v>
                  </c:pt>
                  <c:pt idx="3">
                    <c:v>Proposed
(Custom CNN)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96.2</c:v>
                </c:pt>
                <c:pt idx="1">
                  <c:v>95.8</c:v>
                </c:pt>
                <c:pt idx="2">
                  <c:v>94.6</c:v>
                </c:pt>
                <c:pt idx="3">
                  <c:v>99.15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9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Introduce yourself and the topic. This is a lightweight CNN for hand gesture recognition achieving 99.15% accuracy.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why gesture recognition matters and what limitations exist with current approaches.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Describe the Kaggle dataset: 13,000 images, 5 classes, 80/20 split, no augmentation needed due to existing diversity.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5-step pipeline. Emphasize the lightweight CNN design choice vs transfer learning.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the CNN layer by layer. Emphasize why each design choice was made.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Discuss training curves. Key point: validation accuracy tracks training closely — good generalization, no overfitting.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Present the headline metrics. Point out all classes score ~0.99, demonstrating no class bias.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confusion matrix. Green = correct predictions. Red = errors. Only 22 errors from 2600 samples.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Compare results carefully. Note that direct comparison is hard due to different datasets, but our lightweight model outperforms all cited works.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Summarize key findings and outline future work. Be honest about limitations — shows academic rigor.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498080" y="457200"/>
            <a:ext cx="1097280" cy="1097280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0" y="685800"/>
            <a:ext cx="640080" cy="64008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548640" y="100584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Hand Gesture Recognition</a:t>
            </a:r>
            <a:endParaRPr lang="en-US" sz="3800" dirty="0"/>
          </a:p>
        </p:txBody>
      </p:sp>
      <p:sp>
        <p:nvSpPr>
          <p:cNvPr id="6" name="Text 3"/>
          <p:cNvSpPr/>
          <p:nvPr/>
        </p:nvSpPr>
        <p:spPr>
          <a:xfrm>
            <a:off x="548640" y="173736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Using Convolutional Neural Networks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548640" y="22402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Reliable Human–Computer Interaction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48640" y="2788920"/>
            <a:ext cx="228600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48640" y="2926080"/>
            <a:ext cx="5486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Mohammed Aiman Sadhik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548640" y="3255264"/>
            <a:ext cx="7315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Business · University of Europe for Applied Sciences</a:t>
            </a:r>
            <a:endParaRPr lang="en-US" sz="1200" dirty="0"/>
          </a:p>
          <a:p>
            <a:pPr algn="l"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PS26-DSC01 Machine Learning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457200" y="4114800"/>
            <a:ext cx="1920240" cy="777240"/>
          </a:xfrm>
          <a:prstGeom prst="roundRect">
            <a:avLst>
              <a:gd name="adj" fmla="val 9412"/>
            </a:avLst>
          </a:prstGeom>
          <a:solidFill>
            <a:srgbClr val="0D9488">
              <a:alpha val="2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457200" y="41605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~13,000</a:t>
            </a:r>
            <a:endParaRPr lang="en-US" sz="1800" dirty="0"/>
          </a:p>
        </p:txBody>
      </p:sp>
      <p:sp>
        <p:nvSpPr>
          <p:cNvPr id="13" name="Text 10"/>
          <p:cNvSpPr/>
          <p:nvPr/>
        </p:nvSpPr>
        <p:spPr>
          <a:xfrm>
            <a:off x="457200" y="44805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Images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2606040" y="4114800"/>
            <a:ext cx="1920240" cy="777240"/>
          </a:xfrm>
          <a:prstGeom prst="roundRect">
            <a:avLst>
              <a:gd name="adj" fmla="val 9412"/>
            </a:avLst>
          </a:prstGeom>
          <a:solidFill>
            <a:srgbClr val="0D9488">
              <a:alpha val="2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606040" y="41605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800" dirty="0"/>
          </a:p>
        </p:txBody>
      </p:sp>
      <p:sp>
        <p:nvSpPr>
          <p:cNvPr id="16" name="Text 13"/>
          <p:cNvSpPr/>
          <p:nvPr/>
        </p:nvSpPr>
        <p:spPr>
          <a:xfrm>
            <a:off x="2606040" y="44805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Gesture Classes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754880" y="4114800"/>
            <a:ext cx="1920240" cy="777240"/>
          </a:xfrm>
          <a:prstGeom prst="roundRect">
            <a:avLst>
              <a:gd name="adj" fmla="val 9412"/>
            </a:avLst>
          </a:prstGeom>
          <a:solidFill>
            <a:srgbClr val="0D9488">
              <a:alpha val="2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4754880" y="41605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99.15%</a:t>
            </a:r>
            <a:endParaRPr lang="en-US" sz="1800" dirty="0"/>
          </a:p>
        </p:txBody>
      </p:sp>
      <p:sp>
        <p:nvSpPr>
          <p:cNvPr id="19" name="Text 16"/>
          <p:cNvSpPr/>
          <p:nvPr/>
        </p:nvSpPr>
        <p:spPr>
          <a:xfrm>
            <a:off x="4754880" y="44805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 Accuracy</a:t>
            </a:r>
            <a:endParaRPr lang="en-US" sz="900" dirty="0"/>
          </a:p>
        </p:txBody>
      </p:sp>
      <p:sp>
        <p:nvSpPr>
          <p:cNvPr id="20" name="Shape 17"/>
          <p:cNvSpPr/>
          <p:nvPr/>
        </p:nvSpPr>
        <p:spPr>
          <a:xfrm>
            <a:off x="6903720" y="4114800"/>
            <a:ext cx="1920240" cy="777240"/>
          </a:xfrm>
          <a:prstGeom prst="roundRect">
            <a:avLst>
              <a:gd name="adj" fmla="val 9412"/>
            </a:avLst>
          </a:prstGeom>
          <a:solidFill>
            <a:srgbClr val="0D9488">
              <a:alpha val="25000"/>
            </a:srgbClr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903720" y="4160520"/>
            <a:ext cx="1920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~0.99</a:t>
            </a:r>
            <a:endParaRPr lang="en-US" sz="1800" dirty="0"/>
          </a:p>
        </p:txBody>
      </p:sp>
      <p:sp>
        <p:nvSpPr>
          <p:cNvPr id="22" name="Text 19"/>
          <p:cNvSpPr/>
          <p:nvPr/>
        </p:nvSpPr>
        <p:spPr>
          <a:xfrm>
            <a:off x="6903720" y="4480560"/>
            <a:ext cx="1920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900" dirty="0"/>
          </a:p>
        </p:txBody>
      </p:sp>
      <p:sp>
        <p:nvSpPr>
          <p:cNvPr id="23" name="Shape 20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 Statement &amp; Motivation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3931920" cy="3977640"/>
          </a:xfrm>
          <a:prstGeom prst="roundRect">
            <a:avLst>
              <a:gd name="adj" fmla="val 2326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02920" y="9601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530352" y="1389888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353312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Traditional input devices (keyboards, mice) require physical contact — limiting in healthcare, industry &amp; AR/VR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30352" y="2139696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210312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Gesture appearance varies with lighting, orientation, background &amp; viewpoint — reducing accuracy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30352" y="2889504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04672" y="2852928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systems rely on large transfer-learning models that are computationally expensive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30352" y="3639312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3602736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studies report only accuracy, with limited class-level analysis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4846320" y="822960"/>
            <a:ext cx="3931920" cy="3977640"/>
          </a:xfrm>
          <a:prstGeom prst="roundRect">
            <a:avLst>
              <a:gd name="adj" fmla="val 2326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983480" y="960120"/>
            <a:ext cx="3657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010912" y="1389888"/>
            <a:ext cx="201168" cy="20116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285232" y="1353312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Vision-based approach using standard RGB cameras — no wearables or special hardware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010912" y="2139696"/>
            <a:ext cx="201168" cy="20116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85232" y="2103120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custom CNN trained from scratch — computationally efficient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010912" y="2889504"/>
            <a:ext cx="201168" cy="20116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285232" y="2852928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Comprehensive evaluation: accuracy, precision, recall, F1, confusion matrix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5010912" y="3639312"/>
            <a:ext cx="201168" cy="201168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285232" y="3602736"/>
            <a:ext cx="3337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foundation for real-time touch-free HCI systems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 Overview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64008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Hand Gesture Recognition Dataset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005840"/>
            <a:ext cx="1508760" cy="640080"/>
          </a:xfrm>
          <a:prstGeom prst="roundRect">
            <a:avLst>
              <a:gd name="adj" fmla="val 1142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0584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Backward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048256" y="1005840"/>
            <a:ext cx="1508760" cy="640080"/>
          </a:xfrm>
          <a:prstGeom prst="roundRect">
            <a:avLst>
              <a:gd name="adj" fmla="val 11429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048256" y="100584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730752" y="1005840"/>
            <a:ext cx="1508760" cy="640080"/>
          </a:xfrm>
          <a:prstGeom prst="roundRect">
            <a:avLst>
              <a:gd name="adj" fmla="val 1142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730752" y="100584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13248" y="1005840"/>
            <a:ext cx="1508760" cy="640080"/>
          </a:xfrm>
          <a:prstGeom prst="roundRect">
            <a:avLst>
              <a:gd name="adj" fmla="val 11429"/>
            </a:avLst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413248" y="100584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095744" y="1005840"/>
            <a:ext cx="1508760" cy="640080"/>
          </a:xfrm>
          <a:prstGeom prst="roundRect">
            <a:avLst>
              <a:gd name="adj" fmla="val 1142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95744" y="1005840"/>
            <a:ext cx="1508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</a:t>
            </a:r>
            <a:endParaRPr lang="en-US" sz="13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783080"/>
          <a:ext cx="8412480" cy="3200400"/>
        </p:xfrm>
        <a:graphic>
          <a:graphicData uri="http://schemas.openxmlformats.org/drawingml/2006/table">
            <a:tbl>
              <a:tblPr/>
              <a:tblGrid>
                <a:gridCol w="2286000"/>
                <a:gridCol w="6126480"/>
              </a:tblGrid>
              <a:tr h="355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Attribute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Kaggle Hand Gesture Recognition Dataset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Images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~13,000 RGB images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Classes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(Backward, Forward, Left, Right, Unknown)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Input Resolution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128 × 128 pixels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Training Split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80% (~10,400 images)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 Split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 (~2,600 images)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Batch Size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 images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556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Framework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E29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TensorFlow 2.x / Keras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6" name="Shape 13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Methodology &amp; Pipeline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1554480" cy="4023360"/>
          </a:xfrm>
          <a:prstGeom prst="roundRect">
            <a:avLst>
              <a:gd name="adj" fmla="val 5882"/>
            </a:avLst>
          </a:prstGeom>
          <a:solidFill>
            <a:srgbClr val="12233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96012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22960" y="960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365760" y="15087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Collection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347472" y="2011680"/>
            <a:ext cx="1408176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Kaggle dataset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~13,000 RGB images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gesture classes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1828800" y="2816352"/>
            <a:ext cx="18288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011680" y="868680"/>
            <a:ext cx="1554480" cy="4023360"/>
          </a:xfrm>
          <a:prstGeom prst="roundRect">
            <a:avLst>
              <a:gd name="adj" fmla="val 5882"/>
            </a:avLst>
          </a:prstGeom>
          <a:solidFill>
            <a:srgbClr val="12233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560320" y="96012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560320" y="960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103120" y="15087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Preprocessing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2084832" y="2011680"/>
            <a:ext cx="1408176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Resize → 128×128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 [0,1]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Shuffle + 80:20 split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3566160" y="2816352"/>
            <a:ext cx="18288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749040" y="868680"/>
            <a:ext cx="1554480" cy="4023360"/>
          </a:xfrm>
          <a:prstGeom prst="roundRect">
            <a:avLst>
              <a:gd name="adj" fmla="val 5882"/>
            </a:avLst>
          </a:prstGeom>
          <a:solidFill>
            <a:srgbClr val="12233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297680" y="96012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297680" y="960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3840480" y="15087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CNN Architecture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3822192" y="2011680"/>
            <a:ext cx="1408176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Conv blocks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MaxPooling + Dropout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output (5)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5303520" y="2816352"/>
            <a:ext cx="18288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0" y="868680"/>
            <a:ext cx="1554480" cy="4023360"/>
          </a:xfrm>
          <a:prstGeom prst="roundRect">
            <a:avLst>
              <a:gd name="adj" fmla="val 5882"/>
            </a:avLst>
          </a:prstGeom>
          <a:solidFill>
            <a:srgbClr val="12233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035040" y="96012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035040" y="960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577840" y="15087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5559552" y="2011680"/>
            <a:ext cx="1408176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Adam optimizer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Sparse Cat. Cross-Entropy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epochs, batch=32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7040880" y="2816352"/>
            <a:ext cx="182880" cy="36576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223760" y="868680"/>
            <a:ext cx="1554480" cy="4023360"/>
          </a:xfrm>
          <a:prstGeom prst="roundRect">
            <a:avLst>
              <a:gd name="adj" fmla="val 5882"/>
            </a:avLst>
          </a:prstGeom>
          <a:solidFill>
            <a:srgbClr val="122338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7772400" y="960120"/>
            <a:ext cx="457200" cy="457200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772400" y="96012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315200" y="15087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7296912" y="2011680"/>
            <a:ext cx="1408176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Accuracy, Precision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Recall, F1-Score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CNN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14884" y="960120"/>
            <a:ext cx="758952" cy="329184"/>
          </a:xfrm>
          <a:prstGeom prst="roundRect">
            <a:avLst>
              <a:gd name="adj" fmla="val 13889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14884" y="978408"/>
            <a:ext cx="758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69164" y="1133856"/>
            <a:ext cx="850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0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128×128×3 RGB</a:t>
            </a:r>
            <a:endParaRPr lang="en-US" sz="750" dirty="0"/>
          </a:p>
        </p:txBody>
      </p:sp>
      <p:sp>
        <p:nvSpPr>
          <p:cNvPr id="7" name="Shape 5"/>
          <p:cNvSpPr/>
          <p:nvPr/>
        </p:nvSpPr>
        <p:spPr>
          <a:xfrm>
            <a:off x="973836" y="1110996"/>
            <a:ext cx="36576" cy="274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010412" y="960120"/>
            <a:ext cx="758952" cy="329184"/>
          </a:xfrm>
          <a:prstGeom prst="roundRect">
            <a:avLst>
              <a:gd name="adj" fmla="val 138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10412" y="978408"/>
            <a:ext cx="758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Conv2D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64692" y="1133856"/>
            <a:ext cx="850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0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 filters, 3×3, ReLU</a:t>
            </a:r>
            <a:endParaRPr lang="en-US" sz="750" dirty="0"/>
          </a:p>
        </p:txBody>
      </p:sp>
      <p:sp>
        <p:nvSpPr>
          <p:cNvPr id="11" name="Shape 9"/>
          <p:cNvSpPr/>
          <p:nvPr/>
        </p:nvSpPr>
        <p:spPr>
          <a:xfrm>
            <a:off x="1769364" y="1110996"/>
            <a:ext cx="36576" cy="274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05940" y="960120"/>
            <a:ext cx="758952" cy="329184"/>
          </a:xfrm>
          <a:prstGeom prst="roundRect">
            <a:avLst>
              <a:gd name="adj" fmla="val 13889"/>
            </a:avLst>
          </a:prstGeom>
          <a:solidFill>
            <a:srgbClr val="0A7C72"/>
          </a:solidFill>
          <a:ln w="12700">
            <a:solidFill>
              <a:srgbClr val="0A7C7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805940" y="978408"/>
            <a:ext cx="758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MaxPool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760220" y="1133856"/>
            <a:ext cx="850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0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 2×2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2564892" y="1110996"/>
            <a:ext cx="36576" cy="274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601468" y="960120"/>
            <a:ext cx="758952" cy="329184"/>
          </a:xfrm>
          <a:prstGeom prst="roundRect">
            <a:avLst>
              <a:gd name="adj" fmla="val 138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601468" y="978408"/>
            <a:ext cx="758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Conv2D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555748" y="1133856"/>
            <a:ext cx="850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0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64 filters, 3×3, ReLU</a:t>
            </a:r>
            <a:endParaRPr lang="en-US" sz="750" dirty="0"/>
          </a:p>
        </p:txBody>
      </p:sp>
      <p:sp>
        <p:nvSpPr>
          <p:cNvPr id="19" name="Shape 17"/>
          <p:cNvSpPr/>
          <p:nvPr/>
        </p:nvSpPr>
        <p:spPr>
          <a:xfrm>
            <a:off x="3360420" y="1110996"/>
            <a:ext cx="36576" cy="274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96996" y="960120"/>
            <a:ext cx="758952" cy="329184"/>
          </a:xfrm>
          <a:prstGeom prst="roundRect">
            <a:avLst>
              <a:gd name="adj" fmla="val 13889"/>
            </a:avLst>
          </a:prstGeom>
          <a:solidFill>
            <a:srgbClr val="0A7C72"/>
          </a:solidFill>
          <a:ln w="12700">
            <a:solidFill>
              <a:srgbClr val="0A7C7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396996" y="978408"/>
            <a:ext cx="758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MaxPool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351276" y="1133856"/>
            <a:ext cx="850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0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 2×2</a:t>
            </a:r>
            <a:endParaRPr lang="en-US" sz="750" dirty="0"/>
          </a:p>
        </p:txBody>
      </p:sp>
      <p:sp>
        <p:nvSpPr>
          <p:cNvPr id="23" name="Shape 21"/>
          <p:cNvSpPr/>
          <p:nvPr/>
        </p:nvSpPr>
        <p:spPr>
          <a:xfrm>
            <a:off x="4155948" y="1110996"/>
            <a:ext cx="36576" cy="274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92524" y="960120"/>
            <a:ext cx="758952" cy="329184"/>
          </a:xfrm>
          <a:prstGeom prst="roundRect">
            <a:avLst>
              <a:gd name="adj" fmla="val 13889"/>
            </a:avLst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192524" y="978408"/>
            <a:ext cx="758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Conv2D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146804" y="1133856"/>
            <a:ext cx="850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0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 filters, 3×3, ReLU</a:t>
            </a:r>
            <a:endParaRPr lang="en-US" sz="750" dirty="0"/>
          </a:p>
        </p:txBody>
      </p:sp>
      <p:sp>
        <p:nvSpPr>
          <p:cNvPr id="27" name="Shape 25"/>
          <p:cNvSpPr/>
          <p:nvPr/>
        </p:nvSpPr>
        <p:spPr>
          <a:xfrm>
            <a:off x="4951476" y="1110996"/>
            <a:ext cx="36576" cy="274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988052" y="960120"/>
            <a:ext cx="758952" cy="329184"/>
          </a:xfrm>
          <a:prstGeom prst="roundRect">
            <a:avLst>
              <a:gd name="adj" fmla="val 13889"/>
            </a:avLst>
          </a:prstGeom>
          <a:solidFill>
            <a:srgbClr val="0A7C72"/>
          </a:solidFill>
          <a:ln w="12700">
            <a:solidFill>
              <a:srgbClr val="0A7C7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988052" y="978408"/>
            <a:ext cx="758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MaxPool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4942332" y="1133856"/>
            <a:ext cx="850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0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Pool 2×2</a:t>
            </a:r>
            <a:endParaRPr lang="en-US" sz="750" dirty="0"/>
          </a:p>
        </p:txBody>
      </p:sp>
      <p:sp>
        <p:nvSpPr>
          <p:cNvPr id="31" name="Shape 29"/>
          <p:cNvSpPr/>
          <p:nvPr/>
        </p:nvSpPr>
        <p:spPr>
          <a:xfrm>
            <a:off x="5747004" y="1110996"/>
            <a:ext cx="36576" cy="274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783580" y="960120"/>
            <a:ext cx="758952" cy="329184"/>
          </a:xfrm>
          <a:prstGeom prst="roundRect">
            <a:avLst>
              <a:gd name="adj" fmla="val 13889"/>
            </a:avLst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783580" y="978408"/>
            <a:ext cx="758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Flatten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737860" y="1133856"/>
            <a:ext cx="850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0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Vector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6542532" y="1110996"/>
            <a:ext cx="36576" cy="274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6579108" y="960120"/>
            <a:ext cx="758952" cy="329184"/>
          </a:xfrm>
          <a:prstGeom prst="roundRect">
            <a:avLst>
              <a:gd name="adj" fmla="val 13889"/>
            </a:avLst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79108" y="978408"/>
            <a:ext cx="758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Dense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6533388" y="1133856"/>
            <a:ext cx="850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0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128 neurons, ReLU</a:t>
            </a:r>
            <a:endParaRPr lang="en-US" sz="750" dirty="0"/>
          </a:p>
        </p:txBody>
      </p:sp>
      <p:sp>
        <p:nvSpPr>
          <p:cNvPr id="39" name="Shape 37"/>
          <p:cNvSpPr/>
          <p:nvPr/>
        </p:nvSpPr>
        <p:spPr>
          <a:xfrm>
            <a:off x="7338060" y="1110996"/>
            <a:ext cx="36576" cy="274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7374636" y="960120"/>
            <a:ext cx="758952" cy="329184"/>
          </a:xfrm>
          <a:prstGeom prst="roundRect">
            <a:avLst>
              <a:gd name="adj" fmla="val 13889"/>
            </a:avLst>
          </a:prstGeom>
          <a:solidFill>
            <a:srgbClr val="6B21A8"/>
          </a:solidFill>
          <a:ln w="12700">
            <a:solidFill>
              <a:srgbClr val="6B21A8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7374636" y="978408"/>
            <a:ext cx="758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7328916" y="1133856"/>
            <a:ext cx="850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0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rate = 0.5</a:t>
            </a:r>
            <a:endParaRPr lang="en-US" sz="750" dirty="0"/>
          </a:p>
        </p:txBody>
      </p:sp>
      <p:sp>
        <p:nvSpPr>
          <p:cNvPr id="43" name="Shape 41"/>
          <p:cNvSpPr/>
          <p:nvPr/>
        </p:nvSpPr>
        <p:spPr>
          <a:xfrm>
            <a:off x="8133588" y="1110996"/>
            <a:ext cx="36576" cy="27432"/>
          </a:xfrm>
          <a:prstGeom prst="rect">
            <a:avLst/>
          </a:prstGeom>
          <a:solidFill>
            <a:srgbClr val="94A3B8"/>
          </a:solidFill>
          <a:ln w="12700">
            <a:solidFill>
              <a:srgbClr val="94A3B8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8170164" y="960120"/>
            <a:ext cx="758952" cy="329184"/>
          </a:xfrm>
          <a:prstGeom prst="roundRect">
            <a:avLst>
              <a:gd name="adj" fmla="val 13889"/>
            </a:avLst>
          </a:prstGeom>
          <a:solidFill>
            <a:srgbClr val="991B1B"/>
          </a:solidFill>
          <a:ln w="12700">
            <a:solidFill>
              <a:srgbClr val="991B1B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170164" y="978408"/>
            <a:ext cx="75895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8124444" y="1133856"/>
            <a:ext cx="8503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B0E0D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neurons, Softmax</a:t>
            </a:r>
            <a:endParaRPr lang="en-US" sz="750" dirty="0"/>
          </a:p>
        </p:txBody>
      </p:sp>
      <p:sp>
        <p:nvSpPr>
          <p:cNvPr id="47" name="Text 45"/>
          <p:cNvSpPr/>
          <p:nvPr/>
        </p:nvSpPr>
        <p:spPr>
          <a:xfrm>
            <a:off x="457200" y="150876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Design Choices</a:t>
            </a:r>
            <a:endParaRPr lang="en-US" sz="1500" dirty="0"/>
          </a:p>
        </p:txBody>
      </p:sp>
      <p:sp>
        <p:nvSpPr>
          <p:cNvPr id="48" name="Shape 46"/>
          <p:cNvSpPr/>
          <p:nvPr/>
        </p:nvSpPr>
        <p:spPr>
          <a:xfrm>
            <a:off x="365760" y="1901952"/>
            <a:ext cx="8412480" cy="621792"/>
          </a:xfrm>
          <a:prstGeom prst="roundRect">
            <a:avLst>
              <a:gd name="adj" fmla="val 8824"/>
            </a:avLst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02920" y="1929384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777240" y="192024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convolutional blocks with increasing filter depth (32→64→128) to learn hierarchical features — edges, textures, gestures</a:t>
            </a:r>
            <a:endParaRPr lang="en-US" sz="1150" dirty="0"/>
          </a:p>
        </p:txBody>
      </p:sp>
      <p:sp>
        <p:nvSpPr>
          <p:cNvPr id="51" name="Shape 49"/>
          <p:cNvSpPr/>
          <p:nvPr/>
        </p:nvSpPr>
        <p:spPr>
          <a:xfrm>
            <a:off x="365760" y="2651760"/>
            <a:ext cx="841248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502920" y="2679192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53" name="Text 51"/>
          <p:cNvSpPr/>
          <p:nvPr/>
        </p:nvSpPr>
        <p:spPr>
          <a:xfrm>
            <a:off x="777240" y="2670048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Dropout (0.5) after Dense layer prevents overfitting without needing data augmentation</a:t>
            </a:r>
            <a:endParaRPr lang="en-US" sz="1150" dirty="0"/>
          </a:p>
        </p:txBody>
      </p:sp>
      <p:sp>
        <p:nvSpPr>
          <p:cNvPr id="54" name="Shape 52"/>
          <p:cNvSpPr/>
          <p:nvPr/>
        </p:nvSpPr>
        <p:spPr>
          <a:xfrm>
            <a:off x="365760" y="3401568"/>
            <a:ext cx="8412480" cy="621792"/>
          </a:xfrm>
          <a:prstGeom prst="roundRect">
            <a:avLst>
              <a:gd name="adj" fmla="val 8824"/>
            </a:avLst>
          </a:prstGeom>
          <a:solidFill>
            <a:srgbClr val="F0FDFA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02920" y="3429000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56" name="Text 54"/>
          <p:cNvSpPr/>
          <p:nvPr/>
        </p:nvSpPr>
        <p:spPr>
          <a:xfrm>
            <a:off x="777240" y="3419856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Softmax output produces probability distribution over all 5 gesture classes simultaneously</a:t>
            </a:r>
            <a:endParaRPr lang="en-US" sz="1150" dirty="0"/>
          </a:p>
        </p:txBody>
      </p:sp>
      <p:sp>
        <p:nvSpPr>
          <p:cNvPr id="57" name="Shape 55"/>
          <p:cNvSpPr/>
          <p:nvPr/>
        </p:nvSpPr>
        <p:spPr>
          <a:xfrm>
            <a:off x="365760" y="4151376"/>
            <a:ext cx="8412480" cy="621792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502920" y="4178808"/>
            <a:ext cx="274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200" dirty="0"/>
          </a:p>
        </p:txBody>
      </p:sp>
      <p:sp>
        <p:nvSpPr>
          <p:cNvPr id="59" name="Text 57"/>
          <p:cNvSpPr/>
          <p:nvPr/>
        </p:nvSpPr>
        <p:spPr>
          <a:xfrm>
            <a:off x="777240" y="4169664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from scratch — no pre-trained weights — proving lightweight CNN can rival transfer learning</a:t>
            </a:r>
            <a:endParaRPr lang="en-US" sz="1150" dirty="0"/>
          </a:p>
        </p:txBody>
      </p:sp>
      <p:sp>
        <p:nvSpPr>
          <p:cNvPr id="60" name="Shape 58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Training Results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777240"/>
          <a:ext cx="502920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5" name="Chart 1" descr=""/>
          <p:cNvGraphicFramePr/>
          <p:nvPr/>
        </p:nvGraphicFramePr>
        <p:xfrm>
          <a:off x="5486400" y="777240"/>
          <a:ext cx="3474720" cy="30175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 2"/>
          <p:cNvSpPr/>
          <p:nvPr/>
        </p:nvSpPr>
        <p:spPr>
          <a:xfrm>
            <a:off x="365760" y="3931920"/>
            <a:ext cx="84124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</a:t>
            </a:r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train &amp; validation accuracy converge closely → </a:t>
            </a:r>
            <a:pPr algn="l"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significant overfitting</a:t>
            </a:r>
            <a:pPr algn="l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|   </a:t>
            </a:r>
            <a:pPr algn="l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</a:t>
            </a:r>
            <a:pPr algn="l" indent="0" marL="0">
              <a:buNone/>
            </a:pPr>
            <a:r>
              <a:rPr lang="en-US" sz="11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stabilises after epoch 6 → stable convergence</a:t>
            </a:r>
            <a:endParaRPr lang="en-US" sz="1100" dirty="0"/>
          </a:p>
        </p:txBody>
      </p:sp>
      <p:sp>
        <p:nvSpPr>
          <p:cNvPr id="7" name="Shape 3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Performance Metrics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1920240" cy="1417320"/>
          </a:xfrm>
          <a:prstGeom prst="roundRect">
            <a:avLst>
              <a:gd name="adj" fmla="val 6452"/>
            </a:avLst>
          </a:prstGeom>
          <a:solidFill>
            <a:srgbClr val="0A254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365760" y="91440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99.15%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365760" y="157276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68880" y="822960"/>
            <a:ext cx="1920240" cy="1417320"/>
          </a:xfrm>
          <a:prstGeom prst="roundRect">
            <a:avLst>
              <a:gd name="adj" fmla="val 6452"/>
            </a:avLst>
          </a:prstGeom>
          <a:solidFill>
            <a:srgbClr val="0A254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468880" y="91440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0.99</a:t>
            </a:r>
            <a:endParaRPr lang="en-US" sz="3000" dirty="0"/>
          </a:p>
        </p:txBody>
      </p:sp>
      <p:sp>
        <p:nvSpPr>
          <p:cNvPr id="9" name="Text 7"/>
          <p:cNvSpPr/>
          <p:nvPr/>
        </p:nvSpPr>
        <p:spPr>
          <a:xfrm>
            <a:off x="2468880" y="157276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0" y="822960"/>
            <a:ext cx="1920240" cy="1417320"/>
          </a:xfrm>
          <a:prstGeom prst="roundRect">
            <a:avLst>
              <a:gd name="adj" fmla="val 6452"/>
            </a:avLst>
          </a:prstGeom>
          <a:solidFill>
            <a:srgbClr val="0A254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4572000" y="91440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0.99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4572000" y="157276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675120" y="822960"/>
            <a:ext cx="1920240" cy="1417320"/>
          </a:xfrm>
          <a:prstGeom prst="roundRect">
            <a:avLst>
              <a:gd name="adj" fmla="val 6452"/>
            </a:avLst>
          </a:prstGeom>
          <a:solidFill>
            <a:srgbClr val="0A2540"/>
          </a:solidFill>
          <a:ln w="12700">
            <a:solidFill>
              <a:srgbClr val="0D9488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675120" y="914400"/>
            <a:ext cx="19202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0.99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6675120" y="1572768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F1-Score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237744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Class-Level Breakdown</a:t>
            </a:r>
            <a:endParaRPr lang="en-US" sz="14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743200"/>
          <a:ext cx="8412480" cy="2194560"/>
        </p:xfrm>
        <a:graphic>
          <a:graphicData uri="http://schemas.openxmlformats.org/drawingml/2006/table">
            <a:tbl>
              <a:tblPr/>
              <a:tblGrid>
                <a:gridCol w="2286000"/>
                <a:gridCol w="1554480"/>
                <a:gridCol w="1554480"/>
                <a:gridCol w="1554480"/>
                <a:gridCol w="1463040"/>
              </a:tblGrid>
              <a:tr h="3135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Gesture Class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Precision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F1-Score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Support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</a:tr>
              <a:tr h="3135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Backward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8"/>
                    </a:solidFill>
                  </a:tcPr>
                </a:tc>
              </a:tr>
              <a:tr h="3135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Forward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0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0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0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0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035"/>
                    </a:solidFill>
                  </a:tcPr>
                </a:tc>
              </a:tr>
              <a:tr h="3135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Left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8"/>
                    </a:solidFill>
                  </a:tcPr>
                </a:tc>
              </a:tr>
              <a:tr h="3135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Right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0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0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0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035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035"/>
                    </a:solidFill>
                  </a:tcPr>
                </a:tc>
              </a:tr>
              <a:tr h="3135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Unknown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8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D1D5D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22338"/>
                    </a:solidFill>
                  </a:tcPr>
                </a:tc>
              </a:tr>
              <a:tr h="313509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100" b="1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Macro Avg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14B8A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2600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810" cap="flat" cmpd="sng" algn="ctr">
                      <a:solidFill>
                        <a:srgbClr val="1E3A5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</a:tr>
            </a:tbl>
          </a:graphicData>
        </a:graphic>
      </p:graphicFrame>
      <p:sp>
        <p:nvSpPr>
          <p:cNvPr id="18" name="Shape 15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Confusion Matrix Analysis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1920240" y="59436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Backward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2578608" y="59436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3236976" y="59436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895344" y="59436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4553712" y="59436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868680" y="1051560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Backward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868680" y="1709928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Forward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868680" y="2368296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Left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868680" y="3026664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Right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868680" y="3685032"/>
            <a:ext cx="10058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137160" y="2011680"/>
            <a:ext cx="6400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Actual ↓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920240" y="914400"/>
            <a:ext cx="658368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920240" y="9144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515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2578608" y="914400"/>
            <a:ext cx="658368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578608" y="9144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236976" y="914400"/>
            <a:ext cx="658368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236976" y="9144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3895344" y="914400"/>
            <a:ext cx="658368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895344" y="9144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53712" y="914400"/>
            <a:ext cx="658368" cy="658368"/>
          </a:xfrm>
          <a:prstGeom prst="rect">
            <a:avLst/>
          </a:prstGeom>
          <a:solidFill>
            <a:srgbClr val="FCA5A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553712" y="9144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9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1920240" y="1572768"/>
            <a:ext cx="658368" cy="658368"/>
          </a:xfrm>
          <a:prstGeom prst="rect">
            <a:avLst/>
          </a:prstGeom>
          <a:solidFill>
            <a:srgbClr val="FCA5A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920240" y="157276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9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2578608" y="1572768"/>
            <a:ext cx="658368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2578608" y="157276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513</a:t>
            </a:r>
            <a:endParaRPr lang="en-US" sz="1600" dirty="0"/>
          </a:p>
        </p:txBody>
      </p:sp>
      <p:sp>
        <p:nvSpPr>
          <p:cNvPr id="29" name="Shape 27"/>
          <p:cNvSpPr/>
          <p:nvPr/>
        </p:nvSpPr>
        <p:spPr>
          <a:xfrm>
            <a:off x="3236976" y="1572768"/>
            <a:ext cx="658368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236976" y="157276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3895344" y="1572768"/>
            <a:ext cx="658368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895344" y="157276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1300" dirty="0"/>
          </a:p>
        </p:txBody>
      </p:sp>
      <p:sp>
        <p:nvSpPr>
          <p:cNvPr id="33" name="Shape 31"/>
          <p:cNvSpPr/>
          <p:nvPr/>
        </p:nvSpPr>
        <p:spPr>
          <a:xfrm>
            <a:off x="4553712" y="1572768"/>
            <a:ext cx="658368" cy="658368"/>
          </a:xfrm>
          <a:prstGeom prst="rect">
            <a:avLst/>
          </a:prstGeom>
          <a:solidFill>
            <a:srgbClr val="FCA5A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53712" y="1572768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9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35" name="Shape 33"/>
          <p:cNvSpPr/>
          <p:nvPr/>
        </p:nvSpPr>
        <p:spPr>
          <a:xfrm>
            <a:off x="1920240" y="2231136"/>
            <a:ext cx="658368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1920240" y="223113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2578608" y="2231136"/>
            <a:ext cx="658368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2578608" y="223113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1300" dirty="0"/>
          </a:p>
        </p:txBody>
      </p:sp>
      <p:sp>
        <p:nvSpPr>
          <p:cNvPr id="39" name="Shape 37"/>
          <p:cNvSpPr/>
          <p:nvPr/>
        </p:nvSpPr>
        <p:spPr>
          <a:xfrm>
            <a:off x="3236976" y="2231136"/>
            <a:ext cx="658368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3236976" y="223113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505</a:t>
            </a:r>
            <a:endParaRPr lang="en-US" sz="1600" dirty="0"/>
          </a:p>
        </p:txBody>
      </p:sp>
      <p:sp>
        <p:nvSpPr>
          <p:cNvPr id="41" name="Shape 39"/>
          <p:cNvSpPr/>
          <p:nvPr/>
        </p:nvSpPr>
        <p:spPr>
          <a:xfrm>
            <a:off x="3895344" y="2231136"/>
            <a:ext cx="658368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3895344" y="223113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4553712" y="2231136"/>
            <a:ext cx="658368" cy="658368"/>
          </a:xfrm>
          <a:prstGeom prst="rect">
            <a:avLst/>
          </a:prstGeom>
          <a:solidFill>
            <a:srgbClr val="FCA5A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553712" y="223113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9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1920240" y="2889504"/>
            <a:ext cx="658368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1920240" y="288950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1300" dirty="0"/>
          </a:p>
        </p:txBody>
      </p:sp>
      <p:sp>
        <p:nvSpPr>
          <p:cNvPr id="47" name="Shape 45"/>
          <p:cNvSpPr/>
          <p:nvPr/>
        </p:nvSpPr>
        <p:spPr>
          <a:xfrm>
            <a:off x="2578608" y="2889504"/>
            <a:ext cx="658368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2578608" y="288950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1300" dirty="0"/>
          </a:p>
        </p:txBody>
      </p:sp>
      <p:sp>
        <p:nvSpPr>
          <p:cNvPr id="49" name="Shape 47"/>
          <p:cNvSpPr/>
          <p:nvPr/>
        </p:nvSpPr>
        <p:spPr>
          <a:xfrm>
            <a:off x="3236976" y="2889504"/>
            <a:ext cx="658368" cy="658368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3236976" y="288950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1300" dirty="0"/>
          </a:p>
        </p:txBody>
      </p:sp>
      <p:sp>
        <p:nvSpPr>
          <p:cNvPr id="51" name="Shape 49"/>
          <p:cNvSpPr/>
          <p:nvPr/>
        </p:nvSpPr>
        <p:spPr>
          <a:xfrm>
            <a:off x="3895344" y="2889504"/>
            <a:ext cx="658368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3895344" y="288950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528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4553712" y="2889504"/>
            <a:ext cx="658368" cy="658368"/>
          </a:xfrm>
          <a:prstGeom prst="rect">
            <a:avLst/>
          </a:prstGeom>
          <a:solidFill>
            <a:srgbClr val="FCA5A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4553712" y="288950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9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1920240" y="3547872"/>
            <a:ext cx="658368" cy="658368"/>
          </a:xfrm>
          <a:prstGeom prst="rect">
            <a:avLst/>
          </a:prstGeom>
          <a:solidFill>
            <a:srgbClr val="FCA5A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1920240" y="354787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9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57" name="Shape 55"/>
          <p:cNvSpPr/>
          <p:nvPr/>
        </p:nvSpPr>
        <p:spPr>
          <a:xfrm>
            <a:off x="2578608" y="3547872"/>
            <a:ext cx="658368" cy="658368"/>
          </a:xfrm>
          <a:prstGeom prst="rect">
            <a:avLst/>
          </a:prstGeom>
          <a:solidFill>
            <a:srgbClr val="FCA5A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2578608" y="354787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9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59" name="Shape 57"/>
          <p:cNvSpPr/>
          <p:nvPr/>
        </p:nvSpPr>
        <p:spPr>
          <a:xfrm>
            <a:off x="3236976" y="3547872"/>
            <a:ext cx="658368" cy="658368"/>
          </a:xfrm>
          <a:prstGeom prst="rect">
            <a:avLst/>
          </a:prstGeom>
          <a:solidFill>
            <a:srgbClr val="FCA5A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3236976" y="354787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9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300" dirty="0"/>
          </a:p>
        </p:txBody>
      </p:sp>
      <p:sp>
        <p:nvSpPr>
          <p:cNvPr id="61" name="Shape 59"/>
          <p:cNvSpPr/>
          <p:nvPr/>
        </p:nvSpPr>
        <p:spPr>
          <a:xfrm>
            <a:off x="3895344" y="3547872"/>
            <a:ext cx="658368" cy="658368"/>
          </a:xfrm>
          <a:prstGeom prst="rect">
            <a:avLst/>
          </a:prstGeom>
          <a:solidFill>
            <a:srgbClr val="FCA5A5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3895344" y="354787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991B1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300" dirty="0"/>
          </a:p>
        </p:txBody>
      </p:sp>
      <p:sp>
        <p:nvSpPr>
          <p:cNvPr id="63" name="Shape 61"/>
          <p:cNvSpPr/>
          <p:nvPr/>
        </p:nvSpPr>
        <p:spPr>
          <a:xfrm>
            <a:off x="4553712" y="3547872"/>
            <a:ext cx="658368" cy="658368"/>
          </a:xfrm>
          <a:prstGeom prst="rect">
            <a:avLst/>
          </a:prstGeom>
          <a:solidFill>
            <a:srgbClr val="0D9488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4553712" y="354787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517</a:t>
            </a:r>
            <a:endParaRPr lang="en-US" sz="1600" dirty="0"/>
          </a:p>
        </p:txBody>
      </p:sp>
      <p:sp>
        <p:nvSpPr>
          <p:cNvPr id="65" name="Shape 63"/>
          <p:cNvSpPr/>
          <p:nvPr/>
        </p:nvSpPr>
        <p:spPr>
          <a:xfrm>
            <a:off x="5257800" y="914400"/>
            <a:ext cx="3474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66" name="Text 64"/>
          <p:cNvSpPr/>
          <p:nvPr/>
        </p:nvSpPr>
        <p:spPr>
          <a:xfrm>
            <a:off x="5394960" y="96012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Strong Diagonal</a:t>
            </a:r>
            <a:endParaRPr lang="en-US" sz="1100" dirty="0"/>
          </a:p>
        </p:txBody>
      </p:sp>
      <p:sp>
        <p:nvSpPr>
          <p:cNvPr id="67" name="Text 65"/>
          <p:cNvSpPr/>
          <p:nvPr/>
        </p:nvSpPr>
        <p:spPr>
          <a:xfrm>
            <a:off x="5394960" y="118872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515/520, 513/518, 505/508, 528/529, 517/525 correct per class</a:t>
            </a:r>
            <a:endParaRPr lang="en-US" sz="1050" dirty="0"/>
          </a:p>
        </p:txBody>
      </p:sp>
      <p:sp>
        <p:nvSpPr>
          <p:cNvPr id="68" name="Shape 66"/>
          <p:cNvSpPr/>
          <p:nvPr/>
        </p:nvSpPr>
        <p:spPr>
          <a:xfrm>
            <a:off x="5257800" y="1965960"/>
            <a:ext cx="3474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69" name="Text 67"/>
          <p:cNvSpPr/>
          <p:nvPr/>
        </p:nvSpPr>
        <p:spPr>
          <a:xfrm>
            <a:off x="5394960" y="201168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Minimal Confusion</a:t>
            </a:r>
            <a:endParaRPr lang="en-US" sz="1100" dirty="0"/>
          </a:p>
        </p:txBody>
      </p:sp>
      <p:sp>
        <p:nvSpPr>
          <p:cNvPr id="70" name="Text 68"/>
          <p:cNvSpPr/>
          <p:nvPr/>
        </p:nvSpPr>
        <p:spPr>
          <a:xfrm>
            <a:off x="5394960" y="22402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22 total misclassifications out of ~2,600 validation images</a:t>
            </a:r>
            <a:endParaRPr lang="en-US" sz="1050" dirty="0"/>
          </a:p>
        </p:txBody>
      </p:sp>
      <p:sp>
        <p:nvSpPr>
          <p:cNvPr id="71" name="Shape 69"/>
          <p:cNvSpPr/>
          <p:nvPr/>
        </p:nvSpPr>
        <p:spPr>
          <a:xfrm>
            <a:off x="5257800" y="3017520"/>
            <a:ext cx="347472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3000"/>
              </a:srgbClr>
            </a:outerShdw>
          </a:effectLst>
        </p:spPr>
      </p:sp>
      <p:sp>
        <p:nvSpPr>
          <p:cNvPr id="72" name="Text 70"/>
          <p:cNvSpPr/>
          <p:nvPr/>
        </p:nvSpPr>
        <p:spPr>
          <a:xfrm>
            <a:off x="5394960" y="3063240"/>
            <a:ext cx="3200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Unknown Class</a:t>
            </a:r>
            <a:endParaRPr lang="en-US" sz="1100" dirty="0"/>
          </a:p>
        </p:txBody>
      </p:sp>
      <p:sp>
        <p:nvSpPr>
          <p:cNvPr id="73" name="Text 71"/>
          <p:cNvSpPr/>
          <p:nvPr/>
        </p:nvSpPr>
        <p:spPr>
          <a:xfrm>
            <a:off x="5394960" y="329184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Slightly more errors (8 misclassified) due to visual ambiguity — expected</a:t>
            </a:r>
            <a:endParaRPr lang="en-US" sz="1050" dirty="0"/>
          </a:p>
        </p:txBody>
      </p:sp>
      <p:sp>
        <p:nvSpPr>
          <p:cNvPr id="74" name="Shape 72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1B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Comparison with Published Studies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777240"/>
          <a:ext cx="512064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669280" y="804672"/>
            <a:ext cx="3108960" cy="4114800"/>
          </a:xfrm>
          <a:prstGeom prst="roundRect">
            <a:avLst>
              <a:gd name="adj" fmla="val 2941"/>
            </a:avLst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806440" y="960120"/>
            <a:ext cx="2834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Important Notes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5833872" y="1353312"/>
            <a:ext cx="182880" cy="18288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080760" y="1316736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study uses different datasets — direct comparison should be interpreted cautiously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833872" y="2011680"/>
            <a:ext cx="182880" cy="18288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080760" y="1975104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CNN achieves highest accuracy while being the lightest architecture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833872" y="2670048"/>
            <a:ext cx="182880" cy="18288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6080760" y="2633472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Trained from scratch — no ImageNet pre-training used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833872" y="3328416"/>
            <a:ext cx="182880" cy="18288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080760" y="3291840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10 epochs needed to reach 99.15% — efficient convergence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833872" y="3986784"/>
            <a:ext cx="182880" cy="182880"/>
          </a:xfrm>
          <a:prstGeom prst="ellipse">
            <a:avLst/>
          </a:prstGeom>
          <a:solidFill>
            <a:srgbClr val="14B8A6"/>
          </a:solidFill>
          <a:ln w="12700">
            <a:solidFill>
              <a:srgbClr val="14B8A6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080760" y="3950208"/>
            <a:ext cx="25603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Unlike others, our study evaluates all: accuracy, F1, confusion matrix, class-level report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164592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&amp; Future Work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77724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0D94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1097280"/>
            <a:ext cx="3931920" cy="566928"/>
          </a:xfrm>
          <a:prstGeom prst="roundRect">
            <a:avLst>
              <a:gd name="adj" fmla="val 11290"/>
            </a:avLst>
          </a:prstGeom>
          <a:solidFill>
            <a:srgbClr val="0A2540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84632" y="1179576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68096" y="1143000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Lightweight custom CNN achieves 99.15% validation accuracy on 5-class gesture recognition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65760" y="1764792"/>
            <a:ext cx="3931920" cy="566928"/>
          </a:xfrm>
          <a:prstGeom prst="roundRect">
            <a:avLst>
              <a:gd name="adj" fmla="val 11290"/>
            </a:avLst>
          </a:prstGeom>
          <a:solidFill>
            <a:srgbClr val="0A2540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84632" y="1847088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68096" y="1810512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Precision, Recall and F1-Score all ≈ 0.99 — no class bias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65760" y="2432304"/>
            <a:ext cx="3931920" cy="566928"/>
          </a:xfrm>
          <a:prstGeom prst="roundRect">
            <a:avLst>
              <a:gd name="adj" fmla="val 11290"/>
            </a:avLst>
          </a:prstGeom>
          <a:solidFill>
            <a:srgbClr val="0A2540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4632" y="2514600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68096" y="2478024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convergence in just 10 epochs — computationally efficient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365760" y="3099816"/>
            <a:ext cx="3931920" cy="566928"/>
          </a:xfrm>
          <a:prstGeom prst="roundRect">
            <a:avLst>
              <a:gd name="adj" fmla="val 11290"/>
            </a:avLst>
          </a:prstGeom>
          <a:solidFill>
            <a:srgbClr val="0A2540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84632" y="3182112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68096" y="3145536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transfer learning required — custom architecture performs comparably or better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65760" y="3767328"/>
            <a:ext cx="3931920" cy="566928"/>
          </a:xfrm>
          <a:prstGeom prst="roundRect">
            <a:avLst>
              <a:gd name="adj" fmla="val 11290"/>
            </a:avLst>
          </a:prstGeom>
          <a:solidFill>
            <a:srgbClr val="0A2540"/>
          </a:solidFill>
          <a:ln w="6350">
            <a:solidFill>
              <a:srgbClr val="0D9488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84632" y="3849624"/>
            <a:ext cx="201168" cy="201168"/>
          </a:xfrm>
          <a:prstGeom prst="ellipse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68096" y="3813048"/>
            <a:ext cx="3429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foundation for real-time HCI in healthcare, robotics &amp; smart environments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754880" y="77724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DIRECTIONS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09160" y="1097280"/>
            <a:ext cx="4069080" cy="566928"/>
          </a:xfrm>
          <a:prstGeom prst="roundRect">
            <a:avLst>
              <a:gd name="adj" fmla="val 11290"/>
            </a:avLst>
          </a:prstGeom>
          <a:solidFill>
            <a:srgbClr val="122338"/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46320" y="1143000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Incorporate Grad-CAM &amp; SHAP for model explainability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09160" y="1764792"/>
            <a:ext cx="4069080" cy="566928"/>
          </a:xfrm>
          <a:prstGeom prst="roundRect">
            <a:avLst>
              <a:gd name="adj" fmla="val 11290"/>
            </a:avLst>
          </a:prstGeom>
          <a:solidFill>
            <a:srgbClr val="122338"/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46320" y="1810512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 validation on additional real-world datasets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4709160" y="2432304"/>
            <a:ext cx="4069080" cy="566928"/>
          </a:xfrm>
          <a:prstGeom prst="roundRect">
            <a:avLst>
              <a:gd name="adj" fmla="val 11290"/>
            </a:avLst>
          </a:prstGeom>
          <a:solidFill>
            <a:srgbClr val="122338"/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2478024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deployment on resource-constrained hardware</a:t>
            </a:r>
            <a:endParaRPr lang="en-US" sz="1050" dirty="0"/>
          </a:p>
        </p:txBody>
      </p:sp>
      <p:sp>
        <p:nvSpPr>
          <p:cNvPr id="27" name="Shape 25"/>
          <p:cNvSpPr/>
          <p:nvPr/>
        </p:nvSpPr>
        <p:spPr>
          <a:xfrm>
            <a:off x="4709160" y="3099816"/>
            <a:ext cx="4069080" cy="566928"/>
          </a:xfrm>
          <a:prstGeom prst="roundRect">
            <a:avLst>
              <a:gd name="adj" fmla="val 11290"/>
            </a:avLst>
          </a:prstGeom>
          <a:solidFill>
            <a:srgbClr val="122338"/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46320" y="3145536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Investigate transfer learning comparison (VGG16, ResNet50)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4709160" y="3767328"/>
            <a:ext cx="4069080" cy="566928"/>
          </a:xfrm>
          <a:prstGeom prst="roundRect">
            <a:avLst>
              <a:gd name="adj" fmla="val 11290"/>
            </a:avLst>
          </a:prstGeom>
          <a:solidFill>
            <a:srgbClr val="122338"/>
          </a:solidFill>
          <a:ln w="6350">
            <a:solidFill>
              <a:srgbClr val="14B8A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846320" y="3813048"/>
            <a:ext cx="37490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to dynamic gesture sequences (video-based)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365760" y="4663440"/>
            <a:ext cx="8412480" cy="320040"/>
          </a:xfrm>
          <a:prstGeom prst="roundRect">
            <a:avLst>
              <a:gd name="adj" fmla="val 17143"/>
            </a:avLst>
          </a:prstGeom>
          <a:solidFill>
            <a:srgbClr val="1E3A5F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02920" y="4681728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 Limitation: Model evaluated on a single public dataset; no Grad-CAM/SHAP explainability implemented in this phase.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3749040" y="640080"/>
            <a:ext cx="1645920" cy="1645920"/>
          </a:xfrm>
          <a:prstGeom prst="ellipse">
            <a:avLst/>
          </a:prstGeom>
          <a:solidFill>
            <a:srgbClr val="0D9488">
              <a:alpha val="20000"/>
            </a:srgbClr>
          </a:solidFill>
          <a:ln w="12700">
            <a:solidFill>
              <a:srgbClr val="0D9488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977640" y="868680"/>
            <a:ext cx="1188720" cy="11887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57200" y="24231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457200" y="30632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 Gesture Recognition Using CNNs for HCI</a:t>
            </a:r>
            <a:endParaRPr lang="en-US" sz="1600" dirty="0"/>
          </a:p>
        </p:txBody>
      </p:sp>
      <p:sp>
        <p:nvSpPr>
          <p:cNvPr id="7" name="Shape 4"/>
          <p:cNvSpPr/>
          <p:nvPr/>
        </p:nvSpPr>
        <p:spPr>
          <a:xfrm>
            <a:off x="3200400" y="3520440"/>
            <a:ext cx="2743200" cy="2743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457200" y="361188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welcome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457200" y="4069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Mohammed Aiman Sadhik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Europe for Applied Sciences, Potsdam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0" y="5097780"/>
            <a:ext cx="9144000" cy="45720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Hand Gesture Recognition Using CNNs</dc:title>
  <dc:subject>PptxGenJS Presentation</dc:subject>
  <dc:creator>Mohammed Aiman Sadhik</dc:creator>
  <cp:lastModifiedBy>Mohammed Aiman Sadhik</cp:lastModifiedBy>
  <cp:revision>1</cp:revision>
  <dcterms:created xsi:type="dcterms:W3CDTF">2026-06-28T14:12:00Z</dcterms:created>
  <dcterms:modified xsi:type="dcterms:W3CDTF">2026-06-28T14:12:00Z</dcterms:modified>
</cp:coreProperties>
</file>